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theme/themeOverride1.xml" ContentType="application/vnd.openxmlformats-officedocument.themeOverr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48" r:id="rId1"/>
  </p:sldMasterIdLst>
  <p:notesMasterIdLst>
    <p:notesMasterId r:id="rId12"/>
  </p:notesMasterIdLst>
  <p:sldIdLst>
    <p:sldId id="256" r:id="rId2"/>
    <p:sldId id="258" r:id="rId3"/>
    <p:sldId id="270" r:id="rId4"/>
    <p:sldId id="271" r:id="rId5"/>
    <p:sldId id="272" r:id="rId6"/>
    <p:sldId id="273" r:id="rId7"/>
    <p:sldId id="274" r:id="rId8"/>
    <p:sldId id="275" r:id="rId9"/>
    <p:sldId id="276" r:id="rId10"/>
    <p:sldId id="278" r:id="rId1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48" d="100"/>
          <a:sy n="48" d="100"/>
        </p:scale>
        <p:origin x="67" y="81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75CDA97-1EE4-47C8-BF13-A7B4240B34C2}" type="datetimeFigureOut">
              <a:rPr lang="en-US" smtClean="0"/>
              <a:t>2/12/2026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9E17BFB-2D06-4CCA-8905-98ECCAF0966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1097311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9E17BFB-2D06-4CCA-8905-98ECCAF0966C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15590846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9E17BFB-2D06-4CCA-8905-98ECCAF0966C}" type="slidenum">
              <a:rPr lang="en-US" smtClean="0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5231725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B3D0D7BE-C505-47E7-C061-BC59BA40954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xmlns="" id="{27ED224C-0C3D-7B5A-61BB-F1C77893073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xmlns="" id="{E56D3AC4-8698-3D2C-134D-5070006E768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5F2201-BA66-483D-A9BC-C01EB95322DC}" type="datetime1">
              <a:rPr lang="en-IN" smtClean="0"/>
              <a:t>12-02-2026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xmlns="" id="{3A260778-D988-2E50-71A8-6F939495250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 smtClean="0"/>
              <a:t>ICCSC-2024</a:t>
            </a:r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xmlns="" id="{20103AF0-22FA-8C9B-41E9-5F53DACB1C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519B3A-F281-48CB-834E-59017A58047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415462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EF579FE7-CC01-A76B-4158-1DEBF09956E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EF68560C-0201-53FF-1C5B-426E613B431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xmlns="" id="{B054560D-2EDF-00F8-7EFE-A1562CB9FB0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A19A3C-698F-42F2-9409-3759E6B3C430}" type="datetime1">
              <a:rPr lang="en-IN" smtClean="0"/>
              <a:t>12-02-2026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xmlns="" id="{02CF03C1-0487-4CC0-E692-E01B2089EBF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 smtClean="0"/>
              <a:t>ICCSC-2024</a:t>
            </a:r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xmlns="" id="{29AD48EE-0288-4C3F-FC60-FD9AE768A0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519B3A-F281-48CB-834E-59017A58047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7700383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A7220E81-DDEE-5310-CF31-B7DD2D1B163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xmlns="" id="{1A668D6B-A3AA-7844-28A1-91DF8090D2D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xmlns="" id="{D3C44933-2FB2-5E6E-B4D8-DF038516C53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3A6204-DE29-45D2-8E2F-5937C75E608A}" type="datetime1">
              <a:rPr lang="en-IN" smtClean="0"/>
              <a:t>12-02-2026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xmlns="" id="{F07F4542-F11F-3A1F-C8DE-F84C99EB946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 smtClean="0"/>
              <a:t>ICCSC-2024</a:t>
            </a:r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xmlns="" id="{30BD4EF2-0218-DDEE-254A-7762105D165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519B3A-F281-48CB-834E-59017A58047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2663615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817713C2-03F0-EBC6-032F-E4B2A1F19B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38B92F9B-AA70-D8BD-2369-1C4749561DF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xmlns="" id="{704E5162-73CD-8EE0-6006-A53DA5E6FB3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xmlns="" id="{F5174736-B894-9EE8-AB9F-2699F32E391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165D2E-132B-4DB7-8654-096BFAEF1423}" type="datetime1">
              <a:rPr lang="en-IN" smtClean="0"/>
              <a:t>12-02-2026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xmlns="" id="{F5A89902-2971-BF4D-16A9-6FC88EE521D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 smtClean="0"/>
              <a:t>ICCSC-2024</a:t>
            </a:r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xmlns="" id="{224D7865-0A13-DA77-1839-00E0D9A2A2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519B3A-F281-48CB-834E-59017A58047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5907709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98BE2FA5-7509-CD85-7FAE-D000ABFFB0F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xmlns="" id="{35A1F37E-05A3-1748-E94A-604957F2AD5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xmlns="" id="{A9CA28AE-7170-3867-8A38-A0B6F08932E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xmlns="" id="{02AC8726-4F20-8F4E-F2F7-813A2E75B40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xmlns="" id="{65D10548-D884-E65E-3033-113BBA04F8E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xmlns="" id="{82835DC3-B4BC-C80B-43CC-5C8586A1AFA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DC3FA5-8E62-4957-AEC2-FD73DC803722}" type="datetime1">
              <a:rPr lang="en-IN" smtClean="0"/>
              <a:t>12-02-2026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xmlns="" id="{DC457A6A-4B9D-D2C3-DB0B-D8FD7B6B133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 smtClean="0"/>
              <a:t>ICCSC-2024</a:t>
            </a:r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xmlns="" id="{21156AD4-1CD0-AC64-63B8-69F37854998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519B3A-F281-48CB-834E-59017A58047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8425013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66889BBC-B841-17B2-F7AF-EFFB74923DD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xmlns="" id="{A8B09F5C-2DF7-C9B3-B478-357B838418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CA9CAA-292D-43A8-BEC5-C0FFC08777DE}" type="datetime1">
              <a:rPr lang="en-IN" smtClean="0"/>
              <a:t>12-02-2026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xmlns="" id="{372B7EEA-DF77-FEAD-A6CB-4FE907A2F4B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 smtClean="0"/>
              <a:t>ICCSC-2024</a:t>
            </a:r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xmlns="" id="{92A0F8B4-41FA-B6DA-BAD9-93666E41C71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519B3A-F281-48CB-834E-59017A58047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2706270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xmlns="" id="{E92B964B-60FE-644F-E5D5-8A70C262F4D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85CEF0-8F92-40DE-ABB1-57D896E41AA1}" type="datetime1">
              <a:rPr lang="en-IN" smtClean="0"/>
              <a:t>12-02-2026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xmlns="" id="{50BBB8DD-A306-1AA6-051F-85B9AD687BD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 smtClean="0"/>
              <a:t>ICCSC-2024</a:t>
            </a:r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xmlns="" id="{ECA23606-B22A-C76B-9AEA-0DAD42C7992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519B3A-F281-48CB-834E-59017A58047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9049297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ACE7596A-19D5-71DF-5E02-E8A45F27ACC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5D4E905F-3DF1-3418-4727-36D2B325478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xmlns="" id="{50A31D22-2BC6-9A03-50D2-EFAC956CED0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xmlns="" id="{975C2F91-F0D4-A5EB-44AA-8B5AF8AA8C0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183D533-3DA4-446F-BBF1-87C6ED48B83F}" type="datetime1">
              <a:rPr lang="en-IN" smtClean="0"/>
              <a:t>12-02-2026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xmlns="" id="{2232691F-D294-4E51-D7D9-15232B560C7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 smtClean="0"/>
              <a:t>ICCSC-2024</a:t>
            </a:r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xmlns="" id="{4FA1B1BA-89F3-865A-F9EE-BA0CFE3EE6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519B3A-F281-48CB-834E-59017A58047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3855264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79FA7E5C-6022-8903-A7C1-506AE3F5B35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xmlns="" id="{FB74FBDD-6E49-57C5-BFD3-B0C76343382C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xmlns="" id="{906409E9-D740-3F89-EB09-0BAB40E53FE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xmlns="" id="{8E3F8ADF-91E1-C5DF-51E3-0151BE5872F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BDD316-2139-4C52-9180-8F72E35D8EA4}" type="datetime1">
              <a:rPr lang="en-IN" smtClean="0"/>
              <a:t>12-02-2026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xmlns="" id="{D8921669-1879-8F9F-A551-3113AEDE499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 smtClean="0"/>
              <a:t>ICCSC-2024</a:t>
            </a:r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xmlns="" id="{0B5D3504-255D-2D83-32B7-267BF2B01BD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519B3A-F281-48CB-834E-59017A58047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340898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9D472CD3-2608-0745-A02A-D60002374F9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xmlns="" id="{00CEF670-EE4A-84C3-E969-59EB14AD6A6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xmlns="" id="{D6694909-04AF-70F4-A943-B3A379542C3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752192-6144-47AF-A249-AF92BBA1E273}" type="datetime1">
              <a:rPr lang="en-IN" smtClean="0"/>
              <a:t>12-02-2026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xmlns="" id="{CD42CCDC-1323-7301-7FD7-3684CFFBCE4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 smtClean="0"/>
              <a:t>ICCSC-2024</a:t>
            </a:r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xmlns="" id="{0190FF7F-CC57-A965-0A81-DD40946B9F2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519B3A-F281-48CB-834E-59017A58047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8515480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xmlns="" id="{46386782-C415-A88F-BAFF-8563491CC40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xmlns="" id="{5ADDD96F-1EF6-066D-4DFB-3732B2F79F3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xmlns="" id="{92C4DEF9-3FA1-0258-1028-18B8365A6C4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F7D475-4889-461E-BB17-3C6A633B8FFF}" type="datetime1">
              <a:rPr lang="en-IN" smtClean="0"/>
              <a:t>12-02-2026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xmlns="" id="{C295B252-161E-DC3E-E34D-1C9591993B2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 smtClean="0"/>
              <a:t>ICCSC-2024</a:t>
            </a:r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xmlns="" id="{FD36B868-D470-D245-C120-51E07430D2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519B3A-F281-48CB-834E-59017A58047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1847950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xmlns="" id="{13730CC4-FFF0-222B-65C4-1EC44C2DA75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xmlns="" id="{16C8F75E-87AF-D6FA-B503-A7FECEB671F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xmlns="" id="{DC38FF06-4794-3424-8CD1-BAA2330302E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EB17EB4-91CA-49BF-B919-ADADBCABC4A6}" type="datetime1">
              <a:rPr lang="en-IN" smtClean="0"/>
              <a:t>12-02-2026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xmlns="" id="{E4928BC4-334F-2100-0389-4C3194589CC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IN" smtClean="0"/>
              <a:t>ICCSC-2024</a:t>
            </a:r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xmlns="" id="{9DF50D78-7E54-1DBB-E2E6-556DFD27D3F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3519B3A-F281-48CB-834E-59017A58047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0759386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slideLayout" Target="../slideLayouts/slideLayout2.xml"/><Relationship Id="rId1" Type="http://schemas.openxmlformats.org/officeDocument/2006/relationships/themeOverride" Target="../theme/themeOverride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1181190"/>
            <a:ext cx="12192000" cy="2387600"/>
          </a:xfrm>
        </p:spPr>
        <p:txBody>
          <a:bodyPr>
            <a:normAutofit/>
          </a:bodyPr>
          <a:lstStyle/>
          <a:p>
            <a:r>
              <a:rPr lang="en-US" sz="4400" b="1" dirty="0" smtClean="0">
                <a:solidFill>
                  <a:srgbClr val="FF0000"/>
                </a:solidFill>
              </a:rPr>
              <a:t>2</a:t>
            </a:r>
            <a:r>
              <a:rPr lang="en-US" sz="4400" b="1" baseline="30000" dirty="0" smtClean="0">
                <a:solidFill>
                  <a:srgbClr val="FF0000"/>
                </a:solidFill>
              </a:rPr>
              <a:t>nd</a:t>
            </a:r>
            <a:r>
              <a:rPr lang="en-US" sz="4400" b="1" dirty="0">
                <a:solidFill>
                  <a:srgbClr val="FF0000"/>
                </a:solidFill>
              </a:rPr>
              <a:t> International Conference on Computing, </a:t>
            </a:r>
            <a:r>
              <a:rPr lang="en-US" sz="4400" b="1" dirty="0" smtClean="0">
                <a:solidFill>
                  <a:srgbClr val="FF0000"/>
                </a:solidFill>
              </a:rPr>
              <a:t/>
            </a:r>
            <a:br>
              <a:rPr lang="en-US" sz="4400" b="1" dirty="0" smtClean="0">
                <a:solidFill>
                  <a:srgbClr val="FF0000"/>
                </a:solidFill>
              </a:rPr>
            </a:br>
            <a:r>
              <a:rPr lang="en-US" sz="4400" b="1" dirty="0" smtClean="0">
                <a:solidFill>
                  <a:srgbClr val="FF0000"/>
                </a:solidFill>
              </a:rPr>
              <a:t>Sciences </a:t>
            </a:r>
            <a:r>
              <a:rPr lang="en-US" sz="4400" b="1" dirty="0">
                <a:solidFill>
                  <a:srgbClr val="FF0000"/>
                </a:solidFill>
              </a:rPr>
              <a:t>&amp; Communications </a:t>
            </a:r>
            <a:r>
              <a:rPr lang="en-US" sz="4400" b="1" dirty="0" smtClean="0">
                <a:solidFill>
                  <a:srgbClr val="FF0000"/>
                </a:solidFill>
              </a:rPr>
              <a:t/>
            </a:r>
            <a:br>
              <a:rPr lang="en-US" sz="4400" b="1" dirty="0" smtClean="0">
                <a:solidFill>
                  <a:srgbClr val="FF0000"/>
                </a:solidFill>
              </a:rPr>
            </a:br>
            <a:r>
              <a:rPr lang="en-US" sz="4400" b="1" dirty="0" smtClean="0">
                <a:solidFill>
                  <a:srgbClr val="FF0000"/>
                </a:solidFill>
              </a:rPr>
              <a:t>(ICCSC – 2026)</a:t>
            </a:r>
            <a:endParaRPr lang="en-US" sz="4400" b="1" dirty="0">
              <a:solidFill>
                <a:srgbClr val="FF0000"/>
              </a:solidFill>
            </a:endParaRPr>
          </a:p>
        </p:txBody>
      </p:sp>
      <p:cxnSp>
        <p:nvCxnSpPr>
          <p:cNvPr id="6" name="Straight Connector 5"/>
          <p:cNvCxnSpPr/>
          <p:nvPr/>
        </p:nvCxnSpPr>
        <p:spPr>
          <a:xfrm flipV="1">
            <a:off x="0" y="3568790"/>
            <a:ext cx="12192000" cy="33248"/>
          </a:xfrm>
          <a:prstGeom prst="line">
            <a:avLst/>
          </a:prstGeom>
          <a:ln w="28575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sp>
        <p:nvSpPr>
          <p:cNvPr id="12" name="TextBox 11"/>
          <p:cNvSpPr txBox="1"/>
          <p:nvPr/>
        </p:nvSpPr>
        <p:spPr>
          <a:xfrm>
            <a:off x="4400550" y="3771900"/>
            <a:ext cx="3668629" cy="707886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sz="4000" b="1" dirty="0" smtClean="0"/>
              <a:t>PAPER ID: </a:t>
            </a:r>
            <a:r>
              <a:rPr lang="en-US" sz="4000" b="1" dirty="0" smtClean="0"/>
              <a:t>1027</a:t>
            </a:r>
            <a:endParaRPr lang="en-US" sz="4000" b="1" dirty="0"/>
          </a:p>
        </p:txBody>
      </p:sp>
      <p:sp>
        <p:nvSpPr>
          <p:cNvPr id="14" name="TextBox 13"/>
          <p:cNvSpPr txBox="1"/>
          <p:nvPr/>
        </p:nvSpPr>
        <p:spPr>
          <a:xfrm>
            <a:off x="1757364" y="4500552"/>
            <a:ext cx="8501062" cy="243143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b="1" dirty="0" smtClean="0"/>
              <a:t>PAPER TITLE: </a:t>
            </a:r>
            <a:r>
              <a:rPr lang="en-US" sz="2800" b="1" dirty="0" err="1" smtClean="0"/>
              <a:t>LocaTrack</a:t>
            </a:r>
            <a:r>
              <a:rPr lang="en-US" sz="2800" b="1" dirty="0" smtClean="0"/>
              <a:t>: Prophet-Based Time-series</a:t>
            </a:r>
          </a:p>
          <a:p>
            <a:pPr algn="ctr"/>
            <a:r>
              <a:rPr lang="en-US" sz="2800" b="1" dirty="0" smtClean="0"/>
              <a:t>Forecasting for Crime Trend Prediction</a:t>
            </a:r>
            <a:endParaRPr lang="en-US" sz="2800" b="1" dirty="0" smtClean="0"/>
          </a:p>
          <a:p>
            <a:pPr algn="ctr"/>
            <a:r>
              <a:rPr lang="en-US" sz="2400" b="1" dirty="0" smtClean="0"/>
              <a:t>Authors: </a:t>
            </a:r>
            <a:r>
              <a:rPr lang="en-US" sz="2400" b="1" dirty="0" smtClean="0"/>
              <a:t>Shreya Garg</a:t>
            </a:r>
            <a:r>
              <a:rPr lang="en-US" sz="2400" b="1" dirty="0" smtClean="0"/>
              <a:t>, Aaradhya gupta,</a:t>
            </a:r>
          </a:p>
          <a:p>
            <a:pPr algn="ctr"/>
            <a:r>
              <a:rPr lang="en-US" sz="2400" b="1" dirty="0" err="1" smtClean="0"/>
              <a:t>Yashvardhan</a:t>
            </a:r>
            <a:r>
              <a:rPr lang="en-US" sz="2400" b="1" dirty="0" smtClean="0"/>
              <a:t> Singh</a:t>
            </a:r>
          </a:p>
          <a:p>
            <a:pPr algn="ctr"/>
            <a:r>
              <a:rPr lang="en-US" sz="2400" b="1" dirty="0" smtClean="0"/>
              <a:t>Prof. </a:t>
            </a:r>
            <a:r>
              <a:rPr lang="en-US" sz="2400" b="1" dirty="0" err="1" smtClean="0"/>
              <a:t>Gagan</a:t>
            </a:r>
            <a:r>
              <a:rPr lang="en-US" sz="2400" b="1" dirty="0" smtClean="0"/>
              <a:t> </a:t>
            </a:r>
            <a:r>
              <a:rPr lang="en-US" sz="2400" b="1" dirty="0" err="1" smtClean="0"/>
              <a:t>Thakral</a:t>
            </a:r>
            <a:endParaRPr lang="en-US" sz="2800" b="1" dirty="0" smtClean="0"/>
          </a:p>
          <a:p>
            <a:pPr algn="ctr"/>
            <a:r>
              <a:rPr lang="en-US" sz="2000" b="1" dirty="0" smtClean="0"/>
              <a:t>Presenter: </a:t>
            </a:r>
            <a:r>
              <a:rPr lang="en-US" sz="2000" b="1" dirty="0" smtClean="0"/>
              <a:t>Aaradhya Gupta</a:t>
            </a:r>
            <a:endParaRPr lang="en-US" sz="2000" b="1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6210" y="28576"/>
            <a:ext cx="11423370" cy="16859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5389720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INTRODUCTION</a:t>
            </a:r>
            <a:endParaRPr lang="en-US" sz="1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Content Placeholder 7"/>
          <p:cNvSpPr>
            <a:spLocks noGrp="1"/>
          </p:cNvSpPr>
          <p:nvPr>
            <p:ph idx="1"/>
          </p:nvPr>
        </p:nvSpPr>
        <p:spPr/>
        <p:txBody>
          <a:bodyPr>
            <a:normAutofit fontScale="62500" lnSpcReduction="20000"/>
          </a:bodyPr>
          <a:lstStyle/>
          <a:p>
            <a:pPr marL="738437" lvl="1" indent="-369218">
              <a:lnSpc>
                <a:spcPts val="4788"/>
              </a:lnSpc>
              <a:buFont typeface="Arial"/>
              <a:buChar char="•"/>
            </a:pPr>
            <a:r>
              <a:rPr lang="en-US" sz="4000" dirty="0">
                <a:solidFill>
                  <a:srgbClr val="000000"/>
                </a:solidFill>
                <a:ea typeface="Canva Sans"/>
                <a:cs typeface="Canva Sans"/>
                <a:sym typeface="Canva Sans"/>
              </a:rPr>
              <a:t>Rapid urbanization is increasing crime complexity</a:t>
            </a:r>
          </a:p>
          <a:p>
            <a:pPr marL="738437" lvl="1" indent="-369218">
              <a:lnSpc>
                <a:spcPts val="4788"/>
              </a:lnSpc>
              <a:buFont typeface="Arial"/>
              <a:buChar char="•"/>
            </a:pPr>
            <a:r>
              <a:rPr lang="en-US" sz="4000" dirty="0">
                <a:solidFill>
                  <a:srgbClr val="000000"/>
                </a:solidFill>
                <a:ea typeface="Canva Sans"/>
                <a:cs typeface="Canva Sans"/>
                <a:sym typeface="Canva Sans"/>
              </a:rPr>
              <a:t>Law enforcement needs data-driven forecasting tools</a:t>
            </a:r>
          </a:p>
          <a:p>
            <a:pPr marL="738437" lvl="1" indent="-369218">
              <a:lnSpc>
                <a:spcPts val="4788"/>
              </a:lnSpc>
              <a:buFont typeface="Arial"/>
              <a:buChar char="•"/>
            </a:pPr>
            <a:r>
              <a:rPr lang="en-US" sz="4000" dirty="0">
                <a:solidFill>
                  <a:srgbClr val="000000"/>
                </a:solidFill>
                <a:ea typeface="Canva Sans"/>
                <a:cs typeface="Canva Sans"/>
                <a:sym typeface="Canva Sans"/>
              </a:rPr>
              <a:t>Many advanced models exist (LSTM, </a:t>
            </a:r>
            <a:r>
              <a:rPr lang="en-US" sz="4000" dirty="0" err="1">
                <a:solidFill>
                  <a:srgbClr val="000000"/>
                </a:solidFill>
                <a:ea typeface="Canva Sans"/>
                <a:cs typeface="Canva Sans"/>
                <a:sym typeface="Canva Sans"/>
              </a:rPr>
              <a:t>XGBoost</a:t>
            </a:r>
            <a:r>
              <a:rPr lang="en-US" sz="4000" dirty="0">
                <a:solidFill>
                  <a:srgbClr val="000000"/>
                </a:solidFill>
                <a:ea typeface="Canva Sans"/>
                <a:cs typeface="Canva Sans"/>
                <a:sym typeface="Canva Sans"/>
              </a:rPr>
              <a:t>, RF), but they are black-box</a:t>
            </a:r>
          </a:p>
          <a:p>
            <a:pPr marL="738437" lvl="1" indent="-369218">
              <a:lnSpc>
                <a:spcPts val="4788"/>
              </a:lnSpc>
              <a:buFont typeface="Arial"/>
              <a:buChar char="•"/>
            </a:pPr>
            <a:r>
              <a:rPr lang="en-US" sz="4000" dirty="0">
                <a:solidFill>
                  <a:srgbClr val="000000"/>
                </a:solidFill>
                <a:ea typeface="Canva Sans"/>
                <a:cs typeface="Canva Sans"/>
                <a:sym typeface="Canva Sans"/>
              </a:rPr>
              <a:t>Police agencies require interpretable and transparent predictions</a:t>
            </a:r>
          </a:p>
          <a:p>
            <a:pPr marL="738437" lvl="1" indent="-369218">
              <a:lnSpc>
                <a:spcPts val="4788"/>
              </a:lnSpc>
              <a:buFont typeface="Arial"/>
              <a:buChar char="•"/>
            </a:pPr>
            <a:r>
              <a:rPr lang="en-US" sz="4000" dirty="0">
                <a:solidFill>
                  <a:srgbClr val="000000"/>
                </a:solidFill>
                <a:ea typeface="Canva Sans"/>
                <a:cs typeface="Canva Sans"/>
                <a:sym typeface="Canva Sans"/>
              </a:rPr>
              <a:t>This study uses Prophet for trend + seasonality-based crime forecasting</a:t>
            </a:r>
            <a:r>
              <a:rPr lang="en-US" sz="3420" dirty="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 </a:t>
            </a:r>
          </a:p>
          <a:p>
            <a:pPr marL="738437" lvl="1" indent="-369218">
              <a:lnSpc>
                <a:spcPts val="4788"/>
              </a:lnSpc>
              <a:buFont typeface="Arial"/>
              <a:buChar char="•"/>
            </a:pPr>
            <a:endParaRPr lang="en-US" sz="3420" dirty="0">
              <a:solidFill>
                <a:srgbClr val="000000"/>
              </a:solidFill>
              <a:latin typeface="Canva Sans"/>
              <a:ea typeface="Canva Sans"/>
              <a:cs typeface="Canva Sans"/>
              <a:sym typeface="Canva Sans"/>
            </a:endParaRPr>
          </a:p>
          <a:p>
            <a:endParaRPr lang="en-US" dirty="0"/>
          </a:p>
        </p:txBody>
      </p:sp>
      <p:sp>
        <p:nvSpPr>
          <p:cNvPr id="9" name="Date Placeholder 8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IN" dirty="0" smtClean="0"/>
              <a:t>12-13 Feb 2026</a:t>
            </a:r>
          </a:p>
        </p:txBody>
      </p:sp>
      <p:sp>
        <p:nvSpPr>
          <p:cNvPr id="10" name="Footer Placeholder 9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 dirty="0" smtClean="0"/>
              <a:t>ICCSC-2026</a:t>
            </a:r>
            <a:endParaRPr lang="en-IN" dirty="0"/>
          </a:p>
        </p:txBody>
      </p:sp>
      <p:sp>
        <p:nvSpPr>
          <p:cNvPr id="11" name="Slide Number Placeholder 10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519B3A-F281-48CB-834E-59017A58047F}" type="slidenum">
              <a:rPr lang="en-IN" smtClean="0"/>
              <a:t>2</a:t>
            </a:fld>
            <a:endParaRPr lang="en-IN"/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373315" y="6120614"/>
            <a:ext cx="785350" cy="70604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9803150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MOTIVATION</a:t>
            </a:r>
            <a:endParaRPr lang="en-US" sz="1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Content Placeholder 7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Crime data is noisy, irregular, and incomplete</a:t>
            </a:r>
          </a:p>
          <a:p>
            <a:r>
              <a:rPr lang="en-US" dirty="0"/>
              <a:t>Need a model that</a:t>
            </a:r>
            <a:r>
              <a:rPr lang="en-US" dirty="0" smtClean="0"/>
              <a:t>:</a:t>
            </a:r>
          </a:p>
          <a:p>
            <a:pPr marL="0" indent="0">
              <a:buNone/>
            </a:pPr>
            <a:r>
              <a:rPr lang="en-US" dirty="0" smtClean="0"/>
              <a:t>                                 Handles </a:t>
            </a:r>
            <a:r>
              <a:rPr lang="en-US" dirty="0"/>
              <a:t>missing values</a:t>
            </a:r>
          </a:p>
          <a:p>
            <a:pPr marL="0" indent="0">
              <a:buNone/>
            </a:pPr>
            <a:r>
              <a:rPr lang="en-US" dirty="0"/>
              <a:t>                                </a:t>
            </a:r>
            <a:r>
              <a:rPr lang="en-US" dirty="0" smtClean="0"/>
              <a:t> Detects </a:t>
            </a:r>
            <a:r>
              <a:rPr lang="en-US" dirty="0"/>
              <a:t>seasonality automatically</a:t>
            </a:r>
          </a:p>
          <a:p>
            <a:pPr marL="0" indent="0">
              <a:buNone/>
            </a:pPr>
            <a:r>
              <a:rPr lang="en-US" dirty="0"/>
              <a:t>                                 </a:t>
            </a:r>
            <a:r>
              <a:rPr lang="en-US" dirty="0" smtClean="0"/>
              <a:t>Explains </a:t>
            </a:r>
            <a:r>
              <a:rPr lang="en-US" dirty="0"/>
              <a:t>why a crime spike happens</a:t>
            </a:r>
          </a:p>
          <a:p>
            <a:r>
              <a:rPr lang="en-US" dirty="0"/>
              <a:t>Support resource allocation &amp; proactive policing</a:t>
            </a:r>
          </a:p>
          <a:p>
            <a:r>
              <a:rPr lang="en-US" dirty="0"/>
              <a:t>Goal: Balance accuracy + interpretability for real </a:t>
            </a:r>
            <a:r>
              <a:rPr lang="en-US" dirty="0" smtClean="0"/>
              <a:t>police use</a:t>
            </a:r>
            <a:endParaRPr lang="en-US" dirty="0"/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519B3A-F281-48CB-834E-59017A58047F}" type="slidenum">
              <a:rPr lang="en-IN" smtClean="0"/>
              <a:t>3</a:t>
            </a:fld>
            <a:endParaRPr lang="en-IN"/>
          </a:p>
        </p:txBody>
      </p:sp>
      <p:sp>
        <p:nvSpPr>
          <p:cNvPr id="12" name="Date Placeholder 8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</p:spPr>
        <p:txBody>
          <a:bodyPr/>
          <a:lstStyle/>
          <a:p>
            <a:r>
              <a:rPr lang="en-IN" dirty="0" smtClean="0"/>
              <a:t>12-13 Feb 2026</a:t>
            </a:r>
          </a:p>
        </p:txBody>
      </p:sp>
      <p:sp>
        <p:nvSpPr>
          <p:cNvPr id="13" name="Footer Placeholder 9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r>
              <a:rPr lang="en-IN" dirty="0" smtClean="0"/>
              <a:t>ICCSC-2026</a:t>
            </a:r>
            <a:endParaRPr lang="en-IN" dirty="0"/>
          </a:p>
        </p:txBody>
      </p:sp>
      <p:pic>
        <p:nvPicPr>
          <p:cNvPr id="10" name="Picture 9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373315" y="6120614"/>
            <a:ext cx="785350" cy="70604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76612835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RELATED WORKS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Content Placeholder 7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b="1" dirty="0"/>
              <a:t>Model                                                   Key Finding</a:t>
            </a:r>
          </a:p>
          <a:p>
            <a:r>
              <a:rPr lang="en-US" sz="2600" dirty="0"/>
              <a:t>ARIMA.                                        </a:t>
            </a:r>
            <a:r>
              <a:rPr lang="en-US" sz="2600" dirty="0" smtClean="0"/>
              <a:t> </a:t>
            </a:r>
            <a:r>
              <a:rPr lang="en-US" sz="2600" dirty="0"/>
              <a:t>Good for short-term forecasting</a:t>
            </a:r>
          </a:p>
          <a:p>
            <a:r>
              <a:rPr lang="en-US" sz="2600" dirty="0"/>
              <a:t>SARIMA                                        </a:t>
            </a:r>
            <a:r>
              <a:rPr lang="en-US" sz="2600" dirty="0" smtClean="0"/>
              <a:t>Handles </a:t>
            </a:r>
            <a:r>
              <a:rPr lang="en-US" sz="2600" dirty="0"/>
              <a:t>seasonality well</a:t>
            </a:r>
          </a:p>
          <a:p>
            <a:r>
              <a:rPr lang="en-US" sz="2600" dirty="0"/>
              <a:t>LSTM/BLSTM.                             Captures complex patterns but </a:t>
            </a:r>
            <a:r>
              <a:rPr lang="en-US" sz="2600" dirty="0" smtClean="0"/>
              <a:t>black box</a:t>
            </a:r>
            <a:endParaRPr lang="en-US" sz="2600" dirty="0"/>
          </a:p>
          <a:p>
            <a:r>
              <a:rPr lang="en-US" sz="2600" dirty="0"/>
              <a:t>RF/</a:t>
            </a:r>
            <a:r>
              <a:rPr lang="en-US" sz="2600" dirty="0" err="1"/>
              <a:t>XGBoost</a:t>
            </a:r>
            <a:r>
              <a:rPr lang="en-US" sz="2600" dirty="0"/>
              <a:t>                                 Strong ML models but need heavy tuning                     </a:t>
            </a:r>
          </a:p>
          <a:p>
            <a:r>
              <a:rPr lang="en-US" sz="2600" dirty="0"/>
              <a:t>Prophet                                        Good long-term forecasting + interpretability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519B3A-F281-48CB-834E-59017A58047F}" type="slidenum">
              <a:rPr lang="en-IN" smtClean="0"/>
              <a:t>4</a:t>
            </a:fld>
            <a:endParaRPr lang="en-IN"/>
          </a:p>
        </p:txBody>
      </p:sp>
      <p:sp>
        <p:nvSpPr>
          <p:cNvPr id="10" name="Date Placeholder 8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</p:spPr>
        <p:txBody>
          <a:bodyPr/>
          <a:lstStyle/>
          <a:p>
            <a:r>
              <a:rPr lang="en-IN" dirty="0" smtClean="0"/>
              <a:t>12-13 Feb 2026</a:t>
            </a:r>
          </a:p>
        </p:txBody>
      </p:sp>
      <p:sp>
        <p:nvSpPr>
          <p:cNvPr id="11" name="Footer Placeholder 9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r>
              <a:rPr lang="en-IN" dirty="0" smtClean="0"/>
              <a:t>ICCSC-2026</a:t>
            </a:r>
            <a:endParaRPr lang="en-IN" dirty="0"/>
          </a:p>
        </p:txBody>
      </p:sp>
      <p:pic>
        <p:nvPicPr>
          <p:cNvPr id="12" name="Picture 1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373315" y="6120614"/>
            <a:ext cx="785350" cy="70604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7878198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PROPOSED METHOD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Content Placeholder 7"/>
          <p:cNvSpPr>
            <a:spLocks noGrp="1"/>
          </p:cNvSpPr>
          <p:nvPr>
            <p:ph idx="1"/>
          </p:nvPr>
        </p:nvSpPr>
        <p:spPr/>
        <p:txBody>
          <a:bodyPr>
            <a:normAutofit fontScale="55000" lnSpcReduction="20000"/>
          </a:bodyPr>
          <a:lstStyle/>
          <a:p>
            <a:pPr marL="0" indent="0" algn="ctr">
              <a:buNone/>
            </a:pPr>
            <a:r>
              <a:rPr lang="en-US" b="1" dirty="0"/>
              <a:t>Workflow: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/>
              <a:t>Crime data collection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/>
              <a:t>Cleaning &amp; preprocessing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/>
              <a:t>Time aggregation (daily/weekly)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/>
              <a:t>Missing value handling (forward fill)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/>
              <a:t>Outlier clipping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/>
              <a:t>Prophet modeling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/>
              <a:t>Forecast + component analysis</a:t>
            </a:r>
          </a:p>
          <a:p>
            <a:pPr marL="0" indent="0" algn="ctr">
              <a:buNone/>
            </a:pPr>
            <a:r>
              <a:rPr lang="en-US" b="1" dirty="0" smtClean="0"/>
              <a:t>Prophet Equation:</a:t>
            </a:r>
          </a:p>
          <a:p>
            <a:pPr marL="0" indent="0" algn="ctr">
              <a:buNone/>
            </a:pPr>
            <a:r>
              <a:rPr lang="en-US" dirty="0" smtClean="0"/>
              <a:t>y(t)=g(t)+s(t)+h(t)+</a:t>
            </a:r>
            <a:r>
              <a:rPr lang="el-GR" dirty="0" smtClean="0"/>
              <a:t>ϵ(</a:t>
            </a:r>
            <a:r>
              <a:rPr lang="en-US" dirty="0" smtClean="0"/>
              <a:t>t)</a:t>
            </a:r>
          </a:p>
          <a:p>
            <a:pPr marL="0" indent="0" algn="ctr">
              <a:buNone/>
            </a:pPr>
            <a:r>
              <a:rPr lang="en-US" dirty="0" smtClean="0"/>
              <a:t>where </a:t>
            </a:r>
            <a:endParaRPr lang="en-US" dirty="0"/>
          </a:p>
          <a:p>
            <a:pPr marL="0" indent="0">
              <a:buNone/>
            </a:pPr>
            <a:r>
              <a:rPr lang="en-US" dirty="0"/>
              <a:t>g(t) = Trend</a:t>
            </a:r>
          </a:p>
          <a:p>
            <a:pPr marL="0" indent="0">
              <a:buNone/>
            </a:pPr>
            <a:r>
              <a:rPr lang="en-US" dirty="0"/>
              <a:t>s(t) = Seasonality</a:t>
            </a:r>
          </a:p>
          <a:p>
            <a:pPr marL="0" indent="0">
              <a:buNone/>
            </a:pPr>
            <a:r>
              <a:rPr lang="en-US" dirty="0"/>
              <a:t>h(t) = Events</a:t>
            </a:r>
          </a:p>
          <a:p>
            <a:pPr marL="0" indent="0">
              <a:buNone/>
            </a:pPr>
            <a:r>
              <a:rPr lang="el-GR" dirty="0"/>
              <a:t>ε(</a:t>
            </a:r>
            <a:r>
              <a:rPr lang="en-US" dirty="0"/>
              <a:t>t) = Noise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519B3A-F281-48CB-834E-59017A58047F}" type="slidenum">
              <a:rPr lang="en-IN" smtClean="0"/>
              <a:t>5</a:t>
            </a:fld>
            <a:endParaRPr lang="en-IN"/>
          </a:p>
        </p:txBody>
      </p:sp>
      <p:sp>
        <p:nvSpPr>
          <p:cNvPr id="10" name="Date Placeholder 8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</p:spPr>
        <p:txBody>
          <a:bodyPr/>
          <a:lstStyle/>
          <a:p>
            <a:r>
              <a:rPr lang="en-IN" dirty="0" smtClean="0"/>
              <a:t>12-13 Feb 2026</a:t>
            </a:r>
          </a:p>
        </p:txBody>
      </p:sp>
      <p:sp>
        <p:nvSpPr>
          <p:cNvPr id="11" name="Footer Placeholder 9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r>
              <a:rPr lang="en-IN" dirty="0" smtClean="0"/>
              <a:t>ICCSC-2026</a:t>
            </a:r>
            <a:endParaRPr lang="en-IN" dirty="0"/>
          </a:p>
        </p:txBody>
      </p:sp>
      <p:pic>
        <p:nvPicPr>
          <p:cNvPr id="12" name="Picture 1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373315" y="6120614"/>
            <a:ext cx="785350" cy="70604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7550574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EXPERIMENTAL SETUP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Content Placeholder 7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Multi-year aggregated crime dataset</a:t>
            </a:r>
          </a:p>
          <a:p>
            <a:r>
              <a:rPr lang="en-US" dirty="0"/>
              <a:t>Format:</a:t>
            </a:r>
          </a:p>
          <a:p>
            <a:pPr marL="0" indent="0" algn="ctr">
              <a:buNone/>
            </a:pPr>
            <a:r>
              <a:rPr lang="en-US" b="1" dirty="0"/>
              <a:t>ds</a:t>
            </a:r>
            <a:r>
              <a:rPr lang="en-US" dirty="0"/>
              <a:t> = Date</a:t>
            </a:r>
          </a:p>
          <a:p>
            <a:pPr marL="0" indent="0" algn="ctr">
              <a:buNone/>
            </a:pPr>
            <a:r>
              <a:rPr lang="en-US" dirty="0"/>
              <a:t>          </a:t>
            </a:r>
            <a:r>
              <a:rPr lang="en-US" b="1" dirty="0"/>
              <a:t> y </a:t>
            </a:r>
            <a:r>
              <a:rPr lang="en-US" dirty="0"/>
              <a:t>= Crime count</a:t>
            </a:r>
          </a:p>
          <a:p>
            <a:r>
              <a:rPr lang="en-US" dirty="0"/>
              <a:t>Time-based Train-Test Split</a:t>
            </a:r>
          </a:p>
          <a:p>
            <a:r>
              <a:rPr lang="en-US" dirty="0"/>
              <a:t>Rolling forecast evaluation (7–14 days)</a:t>
            </a:r>
          </a:p>
          <a:p>
            <a:r>
              <a:rPr lang="en-US" dirty="0"/>
              <a:t>Metrics: MAE, RMSE 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519B3A-F281-48CB-834E-59017A58047F}" type="slidenum">
              <a:rPr lang="en-IN" smtClean="0"/>
              <a:t>6</a:t>
            </a:fld>
            <a:endParaRPr lang="en-IN"/>
          </a:p>
        </p:txBody>
      </p:sp>
      <p:sp>
        <p:nvSpPr>
          <p:cNvPr id="10" name="Date Placeholder 8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</p:spPr>
        <p:txBody>
          <a:bodyPr/>
          <a:lstStyle/>
          <a:p>
            <a:r>
              <a:rPr lang="en-IN" dirty="0" smtClean="0"/>
              <a:t>12-13 Feb 2026</a:t>
            </a:r>
          </a:p>
        </p:txBody>
      </p:sp>
      <p:sp>
        <p:nvSpPr>
          <p:cNvPr id="11" name="Footer Placeholder 9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r>
              <a:rPr lang="en-IN" dirty="0" smtClean="0"/>
              <a:t>ICCSC-2026</a:t>
            </a:r>
            <a:endParaRPr lang="en-IN" dirty="0"/>
          </a:p>
        </p:txBody>
      </p:sp>
      <p:pic>
        <p:nvPicPr>
          <p:cNvPr id="12" name="Picture 1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373315" y="6120614"/>
            <a:ext cx="785350" cy="70604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2922549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RESULTS</a:t>
            </a:r>
          </a:p>
        </p:txBody>
      </p:sp>
      <p:sp>
        <p:nvSpPr>
          <p:cNvPr id="8" name="Content Placeholder 7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Slow </a:t>
            </a:r>
            <a:r>
              <a:rPr lang="en-US" dirty="0"/>
              <a:t>upward crime trend</a:t>
            </a:r>
          </a:p>
          <a:p>
            <a:r>
              <a:rPr lang="en-US" dirty="0"/>
              <a:t> </a:t>
            </a:r>
            <a:r>
              <a:rPr lang="en-US" dirty="0" smtClean="0"/>
              <a:t>Strong </a:t>
            </a:r>
            <a:r>
              <a:rPr lang="en-US" dirty="0"/>
              <a:t>weekend effect</a:t>
            </a:r>
          </a:p>
          <a:p>
            <a:r>
              <a:rPr lang="en-US" dirty="0"/>
              <a:t> </a:t>
            </a:r>
            <a:r>
              <a:rPr lang="en-US" dirty="0" smtClean="0"/>
              <a:t>Holiday/event </a:t>
            </a:r>
            <a:r>
              <a:rPr lang="en-US" dirty="0"/>
              <a:t>spikes</a:t>
            </a:r>
          </a:p>
          <a:p>
            <a:r>
              <a:rPr lang="en-US" dirty="0"/>
              <a:t> </a:t>
            </a:r>
            <a:r>
              <a:rPr lang="en-US" dirty="0" smtClean="0"/>
              <a:t>Prophet </a:t>
            </a:r>
            <a:r>
              <a:rPr lang="en-US" dirty="0"/>
              <a:t>outperformed simple baseline models</a:t>
            </a:r>
          </a:p>
          <a:p>
            <a:r>
              <a:rPr lang="en-US" dirty="0"/>
              <a:t> </a:t>
            </a:r>
            <a:r>
              <a:rPr lang="en-US" dirty="0" smtClean="0"/>
              <a:t>Residuals </a:t>
            </a:r>
            <a:r>
              <a:rPr lang="en-US" dirty="0"/>
              <a:t>showed meaningful structure captured</a:t>
            </a:r>
          </a:p>
          <a:p>
            <a:pPr marL="0" indent="0">
              <a:buNone/>
            </a:pPr>
            <a:r>
              <a:rPr lang="en-US" dirty="0" smtClean="0"/>
              <a:t>Model </a:t>
            </a:r>
            <a:r>
              <a:rPr lang="en-US" dirty="0"/>
              <a:t>successfully extracted trend + seasonality + anomalies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519B3A-F281-48CB-834E-59017A58047F}" type="slidenum">
              <a:rPr lang="en-IN" smtClean="0"/>
              <a:t>7</a:t>
            </a:fld>
            <a:endParaRPr lang="en-IN"/>
          </a:p>
        </p:txBody>
      </p:sp>
      <p:sp>
        <p:nvSpPr>
          <p:cNvPr id="10" name="Date Placeholder 8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</p:spPr>
        <p:txBody>
          <a:bodyPr/>
          <a:lstStyle/>
          <a:p>
            <a:r>
              <a:rPr lang="en-IN" dirty="0" smtClean="0"/>
              <a:t>12-13 Feb 2026</a:t>
            </a:r>
          </a:p>
        </p:txBody>
      </p:sp>
      <p:sp>
        <p:nvSpPr>
          <p:cNvPr id="11" name="Footer Placeholder 9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r>
              <a:rPr lang="en-IN" dirty="0" smtClean="0"/>
              <a:t>ICCSC-2026</a:t>
            </a:r>
            <a:endParaRPr lang="en-IN" dirty="0"/>
          </a:p>
        </p:txBody>
      </p:sp>
      <p:pic>
        <p:nvPicPr>
          <p:cNvPr id="12" name="Picture 1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373315" y="6120614"/>
            <a:ext cx="785350" cy="70604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006758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CONCLUSION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Content Placeholder 7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Suitable for real-world law enforcement</a:t>
            </a:r>
          </a:p>
          <a:p>
            <a:r>
              <a:rPr lang="en-US" dirty="0"/>
              <a:t>Prophet provides interpretable crime forecasting</a:t>
            </a:r>
          </a:p>
          <a:p>
            <a:r>
              <a:rPr lang="en-US" dirty="0"/>
              <a:t>Handles messy crime datasets well</a:t>
            </a:r>
          </a:p>
          <a:p>
            <a:r>
              <a:rPr lang="en-US" dirty="0"/>
              <a:t>Limitation: No spatial modeling</a:t>
            </a:r>
          </a:p>
          <a:p>
            <a:r>
              <a:rPr lang="en-US" b="1" dirty="0"/>
              <a:t>Future work:</a:t>
            </a:r>
          </a:p>
          <a:p>
            <a:pPr marL="0" indent="0" algn="ctr">
              <a:buNone/>
            </a:pPr>
            <a:r>
              <a:rPr lang="en-US" b="1" dirty="0"/>
              <a:t>            </a:t>
            </a:r>
            <a:r>
              <a:rPr lang="en-US" dirty="0"/>
              <a:t>             Add demographic &amp; weather data</a:t>
            </a:r>
          </a:p>
          <a:p>
            <a:pPr marL="0" indent="0" algn="ctr">
              <a:buNone/>
            </a:pPr>
            <a:r>
              <a:rPr lang="en-US" dirty="0"/>
              <a:t>      Spatial hotspot analysis</a:t>
            </a:r>
          </a:p>
          <a:p>
            <a:pPr marL="0" indent="0" algn="ctr">
              <a:buNone/>
            </a:pPr>
            <a:r>
              <a:rPr lang="en-US" dirty="0"/>
              <a:t>            Hybrid ML + Prophet model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519B3A-F281-48CB-834E-59017A58047F}" type="slidenum">
              <a:rPr lang="en-IN" smtClean="0"/>
              <a:t>8</a:t>
            </a:fld>
            <a:endParaRPr lang="en-IN"/>
          </a:p>
        </p:txBody>
      </p:sp>
      <p:sp>
        <p:nvSpPr>
          <p:cNvPr id="10" name="Date Placeholder 8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</p:spPr>
        <p:txBody>
          <a:bodyPr/>
          <a:lstStyle/>
          <a:p>
            <a:r>
              <a:rPr lang="en-IN" dirty="0" smtClean="0"/>
              <a:t>12-13 Feb 2026</a:t>
            </a:r>
          </a:p>
        </p:txBody>
      </p:sp>
      <p:sp>
        <p:nvSpPr>
          <p:cNvPr id="11" name="Footer Placeholder 9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r>
              <a:rPr lang="en-IN" dirty="0" smtClean="0"/>
              <a:t>ICCSC-2026</a:t>
            </a:r>
            <a:endParaRPr lang="en-IN" dirty="0"/>
          </a:p>
        </p:txBody>
      </p:sp>
      <p:pic>
        <p:nvPicPr>
          <p:cNvPr id="12" name="Picture 1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373315" y="6120614"/>
            <a:ext cx="785350" cy="70604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2450662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REFERENCES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Content Placeholder 7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 Shen et al. (Climate &amp; crime)</a:t>
            </a:r>
          </a:p>
          <a:p>
            <a:r>
              <a:rPr lang="en-US" dirty="0"/>
              <a:t> Chen et al. (ARIMA crime forecasting)</a:t>
            </a:r>
          </a:p>
          <a:p>
            <a:r>
              <a:rPr lang="en-US" dirty="0"/>
              <a:t> ML &amp; Deep learning crime prediction studies</a:t>
            </a:r>
          </a:p>
          <a:p>
            <a:r>
              <a:rPr lang="en-US" dirty="0"/>
              <a:t> Prophet-based forecasting works</a:t>
            </a:r>
          </a:p>
          <a:p>
            <a:r>
              <a:rPr lang="en-US" dirty="0"/>
              <a:t> Taylor &amp; </a:t>
            </a:r>
            <a:r>
              <a:rPr lang="en-US" dirty="0" err="1"/>
              <a:t>Letham</a:t>
            </a:r>
            <a:r>
              <a:rPr lang="en-US" dirty="0"/>
              <a:t>, 2018 – Prophet Forecasting Model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519B3A-F281-48CB-834E-59017A58047F}" type="slidenum">
              <a:rPr lang="en-IN" smtClean="0"/>
              <a:t>9</a:t>
            </a:fld>
            <a:endParaRPr lang="en-IN"/>
          </a:p>
        </p:txBody>
      </p:sp>
      <p:sp>
        <p:nvSpPr>
          <p:cNvPr id="10" name="Date Placeholder 8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</p:spPr>
        <p:txBody>
          <a:bodyPr/>
          <a:lstStyle/>
          <a:p>
            <a:r>
              <a:rPr lang="en-IN" dirty="0" smtClean="0"/>
              <a:t>12-13 Feb 2026</a:t>
            </a:r>
          </a:p>
        </p:txBody>
      </p:sp>
      <p:sp>
        <p:nvSpPr>
          <p:cNvPr id="11" name="Footer Placeholder 9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r>
              <a:rPr lang="en-IN" dirty="0" smtClean="0"/>
              <a:t>ICCSC-2026</a:t>
            </a:r>
            <a:endParaRPr lang="en-IN" dirty="0"/>
          </a:p>
        </p:txBody>
      </p:sp>
      <p:pic>
        <p:nvPicPr>
          <p:cNvPr id="12" name="Picture 1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373315" y="6120614"/>
            <a:ext cx="785350" cy="70604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7978374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RESPONSE TO REVIEW COMMENTS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Content Placeholder 7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Comment #1: Why </a:t>
            </a:r>
            <a:r>
              <a:rPr lang="en-US" dirty="0" smtClean="0"/>
              <a:t>Prophet?</a:t>
            </a:r>
            <a:endParaRPr lang="en-US" dirty="0" smtClean="0"/>
          </a:p>
          <a:p>
            <a:r>
              <a:rPr lang="en-US" dirty="0"/>
              <a:t>Response: Prophet chosen for interpretability in </a:t>
            </a:r>
            <a:r>
              <a:rPr lang="en-US" dirty="0" smtClean="0"/>
              <a:t>policing</a:t>
            </a:r>
          </a:p>
          <a:p>
            <a:pPr marL="0" indent="0">
              <a:buNone/>
            </a:pPr>
            <a:endParaRPr lang="en-US" dirty="0" smtClean="0"/>
          </a:p>
          <a:p>
            <a:pPr marL="0" indent="0">
              <a:buNone/>
            </a:pPr>
            <a:r>
              <a:rPr lang="en-US" dirty="0"/>
              <a:t>Comment #2: Any limitations</a:t>
            </a:r>
            <a:r>
              <a:rPr lang="en-US" dirty="0" smtClean="0"/>
              <a:t>?</a:t>
            </a:r>
            <a:endParaRPr lang="en-US" dirty="0" smtClean="0"/>
          </a:p>
          <a:p>
            <a:r>
              <a:rPr lang="en-US" dirty="0"/>
              <a:t>Response: spatial modeling is not included; future work will add hotspot analysis</a:t>
            </a:r>
          </a:p>
          <a:p>
            <a:pPr marL="0" indent="0">
              <a:buNone/>
            </a:pPr>
            <a:endParaRPr lang="en-US" dirty="0" smtClean="0"/>
          </a:p>
          <a:p>
            <a:endParaRPr lang="en-US" dirty="0" smtClean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519B3A-F281-48CB-834E-59017A58047F}" type="slidenum">
              <a:rPr lang="en-IN" smtClean="0"/>
              <a:t>10</a:t>
            </a:fld>
            <a:endParaRPr lang="en-IN"/>
          </a:p>
        </p:txBody>
      </p:sp>
      <p:sp>
        <p:nvSpPr>
          <p:cNvPr id="10" name="Date Placeholder 8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</p:spPr>
        <p:txBody>
          <a:bodyPr/>
          <a:lstStyle/>
          <a:p>
            <a:r>
              <a:rPr lang="en-IN" dirty="0" smtClean="0"/>
              <a:t>12-13 Feb 2026</a:t>
            </a:r>
          </a:p>
        </p:txBody>
      </p:sp>
      <p:sp>
        <p:nvSpPr>
          <p:cNvPr id="11" name="Footer Placeholder 9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r>
              <a:rPr lang="en-IN" dirty="0" smtClean="0"/>
              <a:t>ICCSC-2026</a:t>
            </a:r>
            <a:endParaRPr lang="en-IN" dirty="0"/>
          </a:p>
        </p:txBody>
      </p:sp>
      <p:pic>
        <p:nvPicPr>
          <p:cNvPr id="12" name="Picture 1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373315" y="6120614"/>
            <a:ext cx="785350" cy="70604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4761576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Override1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44546A"/>
    </a:dk2>
    <a:lt2>
      <a:srgbClr val="E7E6E6"/>
    </a:lt2>
    <a:accent1>
      <a:srgbClr val="4472C4"/>
    </a:accent1>
    <a:accent2>
      <a:srgbClr val="ED7D31"/>
    </a:accent2>
    <a:accent3>
      <a:srgbClr val="A5A5A5"/>
    </a:accent3>
    <a:accent4>
      <a:srgbClr val="FFC000"/>
    </a:accent4>
    <a:accent5>
      <a:srgbClr val="5B9BD5"/>
    </a:accent5>
    <a:accent6>
      <a:srgbClr val="70AD47"/>
    </a:accent6>
    <a:hlink>
      <a:srgbClr val="0563C1"/>
    </a:hlink>
    <a:folHlink>
      <a:srgbClr val="954F72"/>
    </a:folHlink>
  </a:clrScheme>
</a:themeOverrid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315</TotalTime>
  <Words>458</Words>
  <Application>Microsoft Office PowerPoint</Application>
  <PresentationFormat>Widescreen</PresentationFormat>
  <Paragraphs>110</Paragraphs>
  <Slides>10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6" baseType="lpstr">
      <vt:lpstr>Arial</vt:lpstr>
      <vt:lpstr>Calibri</vt:lpstr>
      <vt:lpstr>Calibri Light</vt:lpstr>
      <vt:lpstr>Canva Sans</vt:lpstr>
      <vt:lpstr>Times New Roman</vt:lpstr>
      <vt:lpstr>Office Theme</vt:lpstr>
      <vt:lpstr>2nd International Conference on Computing,  Sciences &amp; Communications  (ICCSC – 2026)</vt:lpstr>
      <vt:lpstr>INTRODUCTION</vt:lpstr>
      <vt:lpstr>MOTIVATION</vt:lpstr>
      <vt:lpstr>RELATED WORKS</vt:lpstr>
      <vt:lpstr>PROPOSED METHOD</vt:lpstr>
      <vt:lpstr>EXPERIMENTAL SETUP</vt:lpstr>
      <vt:lpstr>RESULTS</vt:lpstr>
      <vt:lpstr>CONCLUSION</vt:lpstr>
      <vt:lpstr>REFERENCES</vt:lpstr>
      <vt:lpstr>RESPONSE TO REVIEW COMMENTS</vt:lpstr>
    </vt:vector>
  </TitlesOfParts>
  <Company/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Sushma Kakkar</dc:creator>
  <cp:lastModifiedBy>Microsoft account</cp:lastModifiedBy>
  <cp:revision>18</cp:revision>
  <dcterms:created xsi:type="dcterms:W3CDTF">2024-08-12T05:23:13Z</dcterms:created>
  <dcterms:modified xsi:type="dcterms:W3CDTF">2026-02-12T13:22:56Z</dcterms:modified>
</cp:coreProperties>
</file>